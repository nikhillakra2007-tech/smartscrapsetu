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a73d9af4bad4ffa" /><Relationship Type="http://schemas.openxmlformats.org/officeDocument/2006/relationships/extended-properties" Target="/docProps/app.xml" Id="R5d4ab24d3e934276" /><Relationship Type="http://schemas.openxmlformats.org/officeDocument/2006/relationships/officeDocument" Target="/ppt/presentation.xml" Id="Ra32d03cda9b040e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2391c243da24508"/>
  </p:sldMasterIdLst>
  <p:notesMasterIdLst>
    <p:notesMasterId xmlns:r="http://schemas.openxmlformats.org/officeDocument/2006/relationships" r:id="R053651d597df4f2a"/>
  </p:notesMasterIdLst>
  <p:sldIdLst>
    <p:sldId xmlns:r="http://schemas.openxmlformats.org/officeDocument/2006/relationships" id="256" r:id="R565fbc179c6e492d"/>
    <p:sldId xmlns:r="http://schemas.openxmlformats.org/officeDocument/2006/relationships" id="257" r:id="Re963148da8dc472d"/>
    <p:sldId xmlns:r="http://schemas.openxmlformats.org/officeDocument/2006/relationships" id="258" r:id="R6bfdfd71b6884123"/>
    <p:sldId xmlns:r="http://schemas.openxmlformats.org/officeDocument/2006/relationships" id="259" r:id="R1cfd85ccd18b4d11"/>
    <p:sldId xmlns:r="http://schemas.openxmlformats.org/officeDocument/2006/relationships" id="260" r:id="Rd6d7b33599eb4663"/>
    <p:sldId xmlns:r="http://schemas.openxmlformats.org/officeDocument/2006/relationships" id="261" r:id="R18f31949e7ee4ee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26efddb29bb4124" /><Relationship Type="http://schemas.openxmlformats.org/officeDocument/2006/relationships/slideMaster" Target="/ppt/slideMasters/slideMaster1.xml" Id="R22391c243da24508" /><Relationship Type="http://schemas.openxmlformats.org/officeDocument/2006/relationships/notesMaster" Target="/ppt/notesMasters/notesMaster1.xml" Id="R053651d597df4f2a" /><Relationship Type="http://schemas.openxmlformats.org/officeDocument/2006/relationships/presProps" Target="/ppt/presProps.xml" Id="R2cff8996322b4c93" /><Relationship Type="http://schemas.openxmlformats.org/officeDocument/2006/relationships/tableStyles" Target="/ppt/tableStyles.xml" Id="Rab0326bb203a40d5" /><Relationship Type="http://schemas.openxmlformats.org/officeDocument/2006/relationships/slide" Target="/ppt/slides/slide1.xml" Id="R565fbc179c6e492d" /><Relationship Type="http://schemas.openxmlformats.org/officeDocument/2006/relationships/slide" Target="/ppt/slides/slide2.xml" Id="Re963148da8dc472d" /><Relationship Type="http://schemas.openxmlformats.org/officeDocument/2006/relationships/slide" Target="/ppt/slides/slide3.xml" Id="R6bfdfd71b6884123" /><Relationship Type="http://schemas.openxmlformats.org/officeDocument/2006/relationships/slide" Target="/ppt/slides/slide4.xml" Id="R1cfd85ccd18b4d11" /><Relationship Type="http://schemas.openxmlformats.org/officeDocument/2006/relationships/slide" Target="/ppt/slides/slide5.xml" Id="Rd6d7b33599eb4663" /><Relationship Type="http://schemas.openxmlformats.org/officeDocument/2006/relationships/slide" Target="/ppt/slides/slide6.xml" Id="R18f31949e7ee4ee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85dcccd460246a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aada3a62bfd40ad" /><Relationship Type="http://schemas.openxmlformats.org/officeDocument/2006/relationships/notesMaster" Target="/ppt/notesMasters/notesMaster1.xml" Id="Rb9142f1fe8224b2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f8d9ee5ca6b41c0" /><Relationship Type="http://schemas.openxmlformats.org/officeDocument/2006/relationships/notesMaster" Target="/ppt/notesMasters/notesMaster1.xml" Id="R1c742de9ff2c4e3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2efd6341bc44e37" /><Relationship Type="http://schemas.openxmlformats.org/officeDocument/2006/relationships/notesMaster" Target="/ppt/notesMasters/notesMaster1.xml" Id="Ra42e1f9da11f459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12b6b881697420c" /><Relationship Type="http://schemas.openxmlformats.org/officeDocument/2006/relationships/notesMaster" Target="/ppt/notesMasters/notesMaster1.xml" Id="R58ac3fdafdfe4ce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3f11702873e41e9" /><Relationship Type="http://schemas.openxmlformats.org/officeDocument/2006/relationships/notesMaster" Target="/ppt/notesMasters/notesMaster1.xml" Id="R966eae0e1a88446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ae7c7806a0c48d5" /><Relationship Type="http://schemas.openxmlformats.org/officeDocument/2006/relationships/notesMaster" Target="/ppt/notesMasters/notesMaster1.xml" Id="R74f18969a38f46e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metadata and implementation details: ScrapSetu repository README.</a:t>
            </a:r>
          </a:p>
          <a:p xmlns:a="http://schemas.openxmlformats.org/drawingml/2006/main">
            <a:r>
              <a:t>SIH format reference: https://www.sih.gov.in/letters/Idea%20ppt.pptx</a:t>
            </a:r>
          </a:p>
          <a:p xmlns:a="http://schemas.openxmlformats.org/drawingml/2006/main">
            <a:r>
              <a:t>Live prototype: https://scrapsetu.vercel.app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behavior and interface: ScrapSetu repository and live prototype.</a:t>
            </a:r>
          </a:p>
          <a:p xmlns:a="http://schemas.openxmlformats.org/drawingml/2006/main">
            <a:r>
              <a:t>Live prototype: https://scrapsetu.vercel.app/citizen</a:t>
            </a:r>
          </a:p>
          <a:p xmlns:a="http://schemas.openxmlformats.org/drawingml/2006/main">
            <a:r>
              <a:t>Repository: https://github.com/nikhillakra2007-tech/scrapsetu/tree/frontend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Architecture and technology stack: ScrapSetu repository README and package.json.</a:t>
            </a:r>
          </a:p>
          <a:p xmlns:a="http://schemas.openxmlformats.org/drawingml/2006/main">
            <a:r>
              <a:t>Gemini API documentation: https://ai.google.dev/gemini-api/docs</a:t>
            </a:r>
          </a:p>
          <a:p xmlns:a="http://schemas.openxmlformats.org/drawingml/2006/main">
            <a:r>
              <a:t>Next.js documentation: https://nextjs.org/docs</a:t>
            </a:r>
          </a:p>
          <a:p xmlns:a="http://schemas.openxmlformats.org/drawingml/2006/main">
            <a:r>
              <a:t>Supabase documentation: https://supabase.com/docs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Implemented feature inventory: ScrapSetu repository README and application routes.</a:t>
            </a:r>
          </a:p>
          <a:p xmlns:a="http://schemas.openxmlformats.org/drawingml/2006/main">
            <a:r>
              <a:t>Live regulator prototype: https://scrapsetu.vercel.app/admin</a:t>
            </a:r>
          </a:p>
          <a:p xmlns:a="http://schemas.openxmlformats.org/drawingml/2006/main">
            <a:r>
              <a:t>The rates and records shown in the prototype are demonstration data. Production rollout requires verified feeds and regulator review.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Target audiences and product benefits are derived from the implemented citizen, collector, recycler and admin workflows.</a:t>
            </a:r>
          </a:p>
          <a:p xmlns:a="http://schemas.openxmlformats.org/drawingml/2006/main">
            <a:r>
              <a:t>Repository: https://github.com/nikhillakra2007-tech/scrapsetu/tree/frontend</a:t>
            </a:r>
          </a:p>
          <a:p xmlns:a="http://schemas.openxmlformats.org/drawingml/2006/main">
            <a:r>
              <a:t>Live prototype: https://scrapsetu.vercel.app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 used in this presentation:</a:t>
            </a:r>
          </a:p>
          <a:p xmlns:a="http://schemas.openxmlformats.org/drawingml/2006/main">
            <a:r>
              <a:t>https://moef.gov.in/uploads/2022/11/E-Waste-Management-Rules-2022.pdf</a:t>
            </a:r>
          </a:p>
          <a:p xmlns:a="http://schemas.openxmlformats.org/drawingml/2006/main">
            <a:r>
              <a:t>https://cpcb.nic.in/e-waste/</a:t>
            </a:r>
          </a:p>
          <a:p xmlns:a="http://schemas.openxmlformats.org/drawingml/2006/main">
            <a:r>
              <a:t>https://www.sih.gov.in/letters/Idea%20ppt.pptx</a:t>
            </a:r>
          </a:p>
          <a:p xmlns:a="http://schemas.openxmlformats.org/drawingml/2006/main">
            <a:r>
              <a:t>https://www.sih.gov.in/letters/Guidelines-College-SPOC.pdf</a:t>
            </a:r>
          </a:p>
          <a:p xmlns:a="http://schemas.openxmlformats.org/drawingml/2006/main">
            <a:r>
              <a:t>https://ai.google.dev/gemini-api/docs</a:t>
            </a:r>
          </a:p>
          <a:p xmlns:a="http://schemas.openxmlformats.org/drawingml/2006/main">
            <a:r>
              <a:t>https://nextjs.org/docs</a:t>
            </a:r>
          </a:p>
          <a:p xmlns:a="http://schemas.openxmlformats.org/drawingml/2006/main">
            <a:r>
              <a:t>https://supabase.com/docs</a:t>
            </a:r>
          </a:p>
          <a:p xmlns:a="http://schemas.openxmlformats.org/drawingml/2006/main">
            <a:r>
              <a:t>https://github.com/nikhillakra2007-tech/scrapsetu/tree/frontend</a:t>
            </a:r>
          </a:p>
          <a:p xmlns:a="http://schemas.openxmlformats.org/drawingml/2006/main">
            <a:r>
              <a:t>https://scrapsetu.vercel.app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8ccc6db38c47f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490aa93e0d84790" /><Relationship Type="http://schemas.openxmlformats.org/officeDocument/2006/relationships/slideLayout" Target="/ppt/slideLayouts/slideLayout1.xml" Id="R15b30800dae24af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5b30800dae24af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93b48b67c14aa1" /><Relationship Type="http://schemas.openxmlformats.org/officeDocument/2006/relationships/image" Target="/ppt/media/image.png" Id="Rbad8344835204f1f" /><Relationship Type="http://schemas.openxmlformats.org/officeDocument/2006/relationships/notesSlide" Target="/ppt/notesSlides/notesSlide1.xml" Id="Rdd07b7ec661046a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1498dae7bb4ec8" /><Relationship Type="http://schemas.openxmlformats.org/officeDocument/2006/relationships/image" Target="/ppt/media/image2.png" Id="Ref2fdfe3465548d2" /><Relationship Type="http://schemas.openxmlformats.org/officeDocument/2006/relationships/notesSlide" Target="/ppt/notesSlides/notesSlide2.xml" Id="Rd7048a01b7c94f1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62e334e56b4e3c" /><Relationship Type="http://schemas.openxmlformats.org/officeDocument/2006/relationships/notesSlide" Target="/ppt/notesSlides/notesSlide3.xml" Id="R83fd95b66963454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397be7366b4c36" /><Relationship Type="http://schemas.openxmlformats.org/officeDocument/2006/relationships/image" Target="/ppt/media/image3.png" Id="R05aa1fabde6944af" /><Relationship Type="http://schemas.openxmlformats.org/officeDocument/2006/relationships/notesSlide" Target="/ppt/notesSlides/notesSlide4.xml" Id="R844f539a3b32403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39ce566fa34423" /><Relationship Type="http://schemas.openxmlformats.org/officeDocument/2006/relationships/image" Target="/ppt/media/image4.png" Id="R2fac296d3ec6419f" /><Relationship Type="http://schemas.openxmlformats.org/officeDocument/2006/relationships/image" Target="/ppt/media/image5.png" Id="Rb094ebc9a23e4737" /><Relationship Type="http://schemas.openxmlformats.org/officeDocument/2006/relationships/image" Target="/ppt/media/image6.png" Id="R685fff7040aa4be8" /><Relationship Type="http://schemas.openxmlformats.org/officeDocument/2006/relationships/notesSlide" Target="/ppt/notesSlides/notesSlide5.xml" Id="R0c0938c2993440f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9789dbbe6942eb" /><Relationship Type="http://schemas.openxmlformats.org/officeDocument/2006/relationships/hyperlink" Target="https://moef.gov.in/uploads/2022/11/E-Waste-Management-Rules-2022.pdf" TargetMode="External" Id="Rcb1ded5f82824ee2" /><Relationship Type="http://schemas.openxmlformats.org/officeDocument/2006/relationships/hyperlink" Target="https://cpcb.nic.in/e-waste/" TargetMode="External" Id="Rcdcd273d9e2743f9" /><Relationship Type="http://schemas.openxmlformats.org/officeDocument/2006/relationships/hyperlink" Target="https://sih.gov.in/letters/Idea%20ppt.pptx" TargetMode="External" Id="R2c4f301e5f5d4854" /><Relationship Type="http://schemas.openxmlformats.org/officeDocument/2006/relationships/hyperlink" Target="https://sih.gov.in/letters/Guidelines-College-SPOC.pdf" TargetMode="External" Id="R1e3441317b044359" /><Relationship Type="http://schemas.openxmlformats.org/officeDocument/2006/relationships/hyperlink" Target="https://ai.google.dev/gemini-api/docs" TargetMode="External" Id="R95b99ae2ed7f48da" /><Relationship Type="http://schemas.openxmlformats.org/officeDocument/2006/relationships/hyperlink" Target="https://nextjs.org/docs" TargetMode="External" Id="Rc9f7624232a44879" /><Relationship Type="http://schemas.openxmlformats.org/officeDocument/2006/relationships/hyperlink" Target="https://supabase.com/docs" TargetMode="External" Id="Rc23db5c8e7b848df" /><Relationship Type="http://schemas.openxmlformats.org/officeDocument/2006/relationships/hyperlink" Target="https://github.com/nikhillakra2007-tech/scrapsetu/tree/frontend" TargetMode="External" Id="Rfe2d5aae6d524c59" /><Relationship Type="http://schemas.openxmlformats.org/officeDocument/2006/relationships/hyperlink" Target="https://scrapsetu.vercel.app" TargetMode="External" Id="R3c4f28ed00b54e68" /><Relationship Type="http://schemas.openxmlformats.org/officeDocument/2006/relationships/notesSlide" Target="/ppt/notesSlides/notesSlide6.xml" Id="Rc4812c15338b493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05C869-E310-40A0-9DDF-829B724BF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67B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D51CAE-097E-4877-8DCA-8F35ABAA2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1967B3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967B3"/>
                </a:solidFill>
                <a:latin typeface="Arial"/>
                <a:ea typeface="Arial"/>
                <a:cs typeface="Arial"/>
              </a:rPr>
              <a:t>SMART INDIA HACKATHON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BCE826-ED27-4B34-8905-B46044095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76200" cy="385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086474-F4EC-47ED-B4FA-E4F93FB78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838200"/>
            <a:ext cx="4476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425" b="1" i="0">
                <a:solidFill>
                  <a:srgbClr val="073B32"/>
                </a:solidFill>
                <a:latin typeface="Arial"/>
                <a:ea typeface="Arial"/>
                <a:cs typeface="Arial"/>
              </a:defRPr>
            </a:pPr>
            <a:r>
              <a:rPr sz="4425" b="1" i="0">
                <a:solidFill>
                  <a:srgbClr val="073B32"/>
                </a:solidFill>
                <a:latin typeface="Arial"/>
                <a:ea typeface="Arial"/>
                <a:cs typeface="Arial"/>
              </a:rPr>
              <a:t>ScrapSetu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D9873B-D079-43A9-93DB-8E05F32D7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81150"/>
            <a:ext cx="43338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100" b="0" i="0">
                <a:solidFill>
                  <a:srgbClr val="0B3158"/>
                </a:solidFill>
                <a:latin typeface="Arial"/>
                <a:ea typeface="Arial"/>
                <a:cs typeface="Arial"/>
              </a:defRPr>
            </a:pPr>
            <a:r>
              <a:rPr sz="2100" b="0" i="0">
                <a:solidFill>
                  <a:srgbClr val="0B3158"/>
                </a:solidFill>
                <a:latin typeface="Arial"/>
                <a:ea typeface="Arial"/>
                <a:cs typeface="Arial"/>
              </a:rPr>
              <a:t>AI assisted e-waste collection, fair valuation and traceable recycling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D649F4-926C-44D6-BAB3-262DF87CB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52700"/>
            <a:ext cx="419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 i="1">
                <a:solidFill>
                  <a:srgbClr val="165C43"/>
                </a:solidFill>
                <a:latin typeface="Arial"/>
                <a:ea typeface="Arial"/>
                <a:cs typeface="Arial"/>
              </a:defRPr>
            </a:pPr>
            <a:r>
              <a:rPr sz="1500" b="0" i="1">
                <a:solidFill>
                  <a:srgbClr val="165C43"/>
                </a:solidFill>
                <a:latin typeface="Arial"/>
                <a:ea typeface="Arial"/>
                <a:cs typeface="Arial"/>
              </a:rPr>
              <a:t>Nothing wasted. Everything worth more.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2CE8C5-A965-44E3-ABF6-8329CAF94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19450"/>
            <a:ext cx="4572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13">
                <a:solidFill>
                  <a:srgbClr val="12231E"/>
                </a:solidFill>
                <a:latin typeface="Arial"/>
                <a:ea typeface="Arial"/>
                <a:cs typeface="Arial"/>
              </a:defRPr>
            </a:pPr>
            <a:r>
              <a:rPr sz="1313" b="1">
                <a:solidFill>
                  <a:srgbClr val="12231E"/>
                </a:solidFill>
                <a:latin typeface="Arial"/>
                <a:ea typeface="Arial"/>
                <a:cs typeface="Arial"/>
              </a:rPr>
              <a:t>Problem Statement ID  </a:t>
            </a:r>
            <a:r>
              <a:rPr sz="1313">
                <a:solidFill>
                  <a:srgbClr val="12231E"/>
                </a:solidFill>
                <a:latin typeface="Arial"/>
                <a:ea typeface="Arial"/>
                <a:cs typeface="Arial"/>
              </a:rPr>
              <a:t>26229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1313">
                <a:solidFill>
                  <a:srgbClr val="12231E"/>
                </a:solidFill>
                <a:latin typeface="Arial"/>
                <a:ea typeface="Arial"/>
                <a:cs typeface="Arial"/>
              </a:defRPr>
            </a:pPr>
            <a:r>
              <a:rPr sz="1313" b="1">
                <a:solidFill>
                  <a:srgbClr val="12231E"/>
                </a:solidFill>
                <a:latin typeface="Arial"/>
                <a:ea typeface="Arial"/>
                <a:cs typeface="Arial"/>
              </a:rPr>
              <a:t>Problem Statement  </a:t>
            </a:r>
            <a:r>
              <a:rPr sz="1313">
                <a:solidFill>
                  <a:srgbClr val="12231E"/>
                </a:solidFill>
                <a:latin typeface="Arial"/>
                <a:ea typeface="Arial"/>
                <a:cs typeface="Arial"/>
              </a:rPr>
              <a:t>Automated e-waste classification and informal collector formalization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1313">
                <a:solidFill>
                  <a:srgbClr val="12231E"/>
                </a:solidFill>
                <a:latin typeface="Arial"/>
                <a:ea typeface="Arial"/>
                <a:cs typeface="Arial"/>
              </a:defRPr>
            </a:pPr>
            <a:r>
              <a:rPr sz="1313" b="1">
                <a:solidFill>
                  <a:srgbClr val="12231E"/>
                </a:solidFill>
                <a:latin typeface="Arial"/>
                <a:ea typeface="Arial"/>
                <a:cs typeface="Arial"/>
              </a:rPr>
              <a:t>Theme  </a:t>
            </a:r>
            <a:r>
              <a:rPr sz="1313">
                <a:solidFill>
                  <a:srgbClr val="12231E"/>
                </a:solidFill>
                <a:latin typeface="Arial"/>
                <a:ea typeface="Arial"/>
                <a:cs typeface="Arial"/>
              </a:rPr>
              <a:t>Clean &amp; Green Technology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1313">
                <a:solidFill>
                  <a:srgbClr val="12231E"/>
                </a:solidFill>
                <a:latin typeface="Arial"/>
                <a:ea typeface="Arial"/>
                <a:cs typeface="Arial"/>
              </a:defRPr>
            </a:pPr>
            <a:r>
              <a:rPr sz="1313" b="1">
                <a:solidFill>
                  <a:srgbClr val="12231E"/>
                </a:solidFill>
                <a:latin typeface="Arial"/>
                <a:ea typeface="Arial"/>
                <a:cs typeface="Arial"/>
              </a:rPr>
              <a:t>Category  </a:t>
            </a:r>
            <a:r>
              <a:rPr sz="1313">
                <a:solidFill>
                  <a:srgbClr val="12231E"/>
                </a:solidFill>
                <a:latin typeface="Arial"/>
                <a:ea typeface="Arial"/>
                <a:cs typeface="Arial"/>
              </a:rPr>
              <a:t>Software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1313">
                <a:solidFill>
                  <a:srgbClr val="12231E"/>
                </a:solidFill>
                <a:latin typeface="Arial"/>
                <a:ea typeface="Arial"/>
                <a:cs typeface="Arial"/>
              </a:defRPr>
            </a:pPr>
            <a:r>
              <a:rPr sz="1313" b="1">
                <a:solidFill>
                  <a:srgbClr val="12231E"/>
                </a:solidFill>
                <a:latin typeface="Arial"/>
                <a:ea typeface="Arial"/>
                <a:cs typeface="Arial"/>
              </a:rPr>
              <a:t>Organization  </a:t>
            </a:r>
            <a:r>
              <a:rPr sz="1313">
                <a:solidFill>
                  <a:srgbClr val="12231E"/>
                </a:solidFill>
                <a:latin typeface="Arial"/>
                <a:ea typeface="Arial"/>
                <a:cs typeface="Arial"/>
              </a:rPr>
              <a:t>JNARDDC / Ministry of Mines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1313">
                <a:solidFill>
                  <a:srgbClr val="12231E"/>
                </a:solidFill>
                <a:latin typeface="Arial"/>
                <a:ea typeface="Arial"/>
                <a:cs typeface="Arial"/>
              </a:defRPr>
            </a:pPr>
            <a:r>
              <a:rPr sz="1313" b="1">
                <a:solidFill>
                  <a:srgbClr val="12231E"/>
                </a:solidFill>
                <a:latin typeface="Arial"/>
                <a:ea typeface="Arial"/>
                <a:cs typeface="Arial"/>
              </a:rPr>
              <a:t>Team Name  </a:t>
            </a:r>
            <a:r>
              <a:rPr sz="1313">
                <a:solidFill>
                  <a:srgbClr val="12231E"/>
                </a:solidFill>
                <a:latin typeface="Arial"/>
                <a:ea typeface="Arial"/>
                <a:cs typeface="Arial"/>
              </a:rPr>
              <a:t>ScrapSetu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d8344835204f1f"/>
          <a:srcRect xmlns:a="http://schemas.openxmlformats.org/drawingml/2006/main" l="0" t="141" r="0" b="14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10250" y="781050"/>
            <a:ext cx="5772150" cy="3105150"/>
          </a:xfrm>
          <a:prstGeom xmlns:a="http://schemas.openxmlformats.org/drawingml/2006/main" prst="roundRect">
            <a:avLst>
              <a:gd name="adj" fmla="val 3681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89AEB2-EFBB-45BE-95BF-90E091C1C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105275"/>
            <a:ext cx="5772150" cy="1228725"/>
          </a:xfrm>
          <a:prstGeom xmlns:a="http://schemas.openxmlformats.org/drawingml/2006/main" prst="roundRect">
            <a:avLst>
              <a:gd name="adj" fmla="val 6202"/>
            </a:avLst>
          </a:prstGeom>
          <a:solidFill xmlns:a="http://schemas.openxmlformats.org/drawingml/2006/main">
            <a:srgbClr val="073B32"/>
          </a:solidFill>
          <a:ln xmlns:a="http://schemas.openxmlformats.org/drawingml/2006/main" w="0">
            <a:solidFill>
              <a:srgbClr val="073B32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E7A96B-0C33-4382-82CC-9AD66B508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333875"/>
            <a:ext cx="190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D7F47A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D7F47A"/>
                </a:solidFill>
                <a:latin typeface="Arial"/>
                <a:ea typeface="Arial"/>
                <a:cs typeface="Arial"/>
              </a:rPr>
              <a:t>LIVE PROTOTYPE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34E05F-1AF5-4809-A83F-3B95A5551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38675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Citizen intake, collector operations, recycler matching and regulator oversight in one responsive product.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A9F8B8-1F1D-4AAF-8D5C-9E2E2CDAC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8102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165C43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65C43"/>
                </a:solidFill>
                <a:latin typeface="Arial"/>
                <a:ea typeface="Arial"/>
                <a:cs typeface="Arial"/>
              </a:rPr>
              <a:t>#CircularEconomy   #EPR   #VernacularTech   #ResponsibleRecycling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397D6A-AF3A-430F-BCFE-841AD41E7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5800725"/>
            <a:ext cx="232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 i="0">
                <a:solidFill>
                  <a:srgbClr val="F28C2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28C28"/>
                </a:solidFill>
                <a:latin typeface="Arial"/>
                <a:ea typeface="Arial"/>
                <a:cs typeface="Arial"/>
              </a:rPr>
              <a:t>SIH IDEA SUBMISSION</a:t>
            </a:r>
          </a:p>
        </p:txBody>
      </p:sp>
    </p:spTree>
    <p:extLst>
      <p:ext uri="{BB962C8B-B14F-4D97-AF65-F5344CB8AC3E}">
        <p14:creationId xmlns:p14="http://schemas.microsoft.com/office/powerpoint/2010/main" val="111170191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B76FB9-1099-43E8-B147-9BC8C0A3C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67B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A238E8-839D-4483-96BE-1A10EC5AF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1967B3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967B3"/>
                </a:solidFill>
                <a:latin typeface="Arial"/>
                <a:ea typeface="Arial"/>
                <a:cs typeface="Arial"/>
              </a:rPr>
              <a:t>SMART INDIA HACKATHON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40B884-C53E-4C71-9F72-D9BFE48F3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7622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75" b="1" i="0">
                <a:solidFill>
                  <a:srgbClr val="F28C28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28C2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65D18C-C8E3-4922-AA73-D54C8E6F8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2870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25" b="1" i="0">
                <a:solidFill>
                  <a:srgbClr val="0B3158"/>
                </a:solidFill>
                <a:latin typeface="Arial"/>
                <a:ea typeface="Arial"/>
                <a:cs typeface="Arial"/>
              </a:defRPr>
            </a:pPr>
            <a:r>
              <a:rPr sz="3225" b="1" i="0">
                <a:solidFill>
                  <a:srgbClr val="0B3158"/>
                </a:solidFill>
                <a:latin typeface="Arial"/>
                <a:ea typeface="Arial"/>
                <a:cs typeface="Arial"/>
              </a:rPr>
              <a:t>IDEA TITLE / PROPOSED SOLUTION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E153E6-E665-408F-AF9F-B125FD19C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586A63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86A63"/>
                </a:solidFill>
                <a:latin typeface="Arial"/>
                <a:ea typeface="Arial"/>
                <a:cs typeface="Arial"/>
              </a:rPr>
              <a:t>ScrapSetu connects fragmented e-waste collection with the formal recycling chain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5CF51B-E471-426C-A41D-2B35AFCA6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85925"/>
            <a:ext cx="4000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 i="0">
                <a:solidFill>
                  <a:srgbClr val="073B32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73B32"/>
                </a:solidFill>
                <a:latin typeface="Arial"/>
                <a:ea typeface="Arial"/>
                <a:cs typeface="Arial"/>
              </a:rPr>
              <a:t>The operating gap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7937B6-0DCA-4AFD-B2F0-39AE1D924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43125"/>
            <a:ext cx="461962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79400" indent="-139700">
              <a:lnSpc>
                <a:spcPct val="105000"/>
              </a:lnSpc>
              <a:spcAft>
                <a:spcPts val="1300"/>
              </a:spcAft>
              <a:buNone/>
              <a:defRPr sz="1463">
                <a:solidFill>
                  <a:srgbClr val="12231E"/>
                </a:solidFill>
                <a:latin typeface="Arial"/>
                <a:ea typeface="Arial"/>
                <a:cs typeface="Arial"/>
              </a:defRPr>
            </a:pPr>
            <a:r>
              <a:rPr sz="1463">
                <a:solidFill>
                  <a:srgbClr val="12231E"/>
                </a:solidFill>
                <a:latin typeface="Arial"/>
                <a:ea typeface="Arial"/>
                <a:cs typeface="Arial"/>
              </a:rPr>
              <a:t>Collectors often price and sort material without reliable benchmarks or hazard guidance.</a:t>
            </a:r>
          </a:p>
          <a:p xmlns:a="http://schemas.openxmlformats.org/drawingml/2006/main">
            <a:pPr marL="279400" indent="-139700">
              <a:lnSpc>
                <a:spcPct val="105000"/>
              </a:lnSpc>
              <a:spcAft>
                <a:spcPts val="1300"/>
              </a:spcAft>
              <a:buNone/>
              <a:defRPr sz="1463">
                <a:solidFill>
                  <a:srgbClr val="12231E"/>
                </a:solidFill>
                <a:latin typeface="Arial"/>
                <a:ea typeface="Arial"/>
                <a:cs typeface="Arial"/>
              </a:defRPr>
            </a:pPr>
            <a:r>
              <a:rPr sz="1463">
                <a:solidFill>
                  <a:srgbClr val="12231E"/>
                </a:solidFill>
                <a:latin typeface="Arial"/>
                <a:ea typeface="Arial"/>
                <a:cs typeface="Arial"/>
              </a:rPr>
              <a:t>Authorized recyclers receive fragmented supply with limited proof of origin and weight.</a:t>
            </a:r>
          </a:p>
          <a:p xmlns:a="http://schemas.openxmlformats.org/drawingml/2006/main">
            <a:pPr marL="279400" indent="-139700">
              <a:lnSpc>
                <a:spcPct val="105000"/>
              </a:lnSpc>
              <a:spcAft>
                <a:spcPts val="1300"/>
              </a:spcAft>
              <a:buNone/>
              <a:defRPr sz="1463">
                <a:solidFill>
                  <a:srgbClr val="12231E"/>
                </a:solidFill>
                <a:latin typeface="Arial"/>
                <a:ea typeface="Arial"/>
                <a:cs typeface="Arial"/>
              </a:defRPr>
            </a:pPr>
            <a:r>
              <a:rPr sz="1463">
                <a:solidFill>
                  <a:srgbClr val="12231E"/>
                </a:solidFill>
                <a:latin typeface="Arial"/>
                <a:ea typeface="Arial"/>
                <a:cs typeface="Arial"/>
              </a:rPr>
              <a:t>Regulators cannot audit handovers when transactions remain offline and undocumented.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DC6D5B-563C-47D3-B12E-D5D9B9A7A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57700"/>
            <a:ext cx="4000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 i="0">
                <a:solidFill>
                  <a:srgbClr val="073B32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73B32"/>
                </a:solidFill>
                <a:latin typeface="Arial"/>
                <a:ea typeface="Arial"/>
                <a:cs typeface="Arial"/>
              </a:rPr>
              <a:t>What ScrapSetu changes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BB49AE-39C3-410E-B5CC-6B71206BD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05375"/>
            <a:ext cx="47625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8241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388">
                <a:solidFill>
                  <a:srgbClr val="12231E"/>
                </a:solidFill>
                <a:latin typeface="Arial"/>
                <a:ea typeface="Arial"/>
                <a:cs typeface="Arial"/>
              </a:defRPr>
            </a:pPr>
            <a:r>
              <a:rPr sz="1388" b="1">
                <a:solidFill>
                  <a:srgbClr val="12231E"/>
                </a:solidFill>
                <a:latin typeface="Arial"/>
                <a:ea typeface="Arial"/>
                <a:cs typeface="Arial"/>
              </a:rPr>
              <a:t>One guided workflow </a:t>
            </a:r>
            <a:r>
              <a:rPr sz="1388">
                <a:solidFill>
                  <a:srgbClr val="12231E"/>
                </a:solidFill>
                <a:latin typeface="Arial"/>
                <a:ea typeface="Arial"/>
                <a:cs typeface="Arial"/>
              </a:rPr>
              <a:t>for citizens, collectors, recyclers and regulators.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388">
                <a:solidFill>
                  <a:srgbClr val="12231E"/>
                </a:solidFill>
                <a:latin typeface="Arial"/>
                <a:ea typeface="Arial"/>
                <a:cs typeface="Arial"/>
              </a:defRPr>
            </a:pPr>
            <a:r>
              <a:rPr sz="1388" b="1">
                <a:solidFill>
                  <a:srgbClr val="12231E"/>
                </a:solidFill>
                <a:latin typeface="Arial"/>
                <a:ea typeface="Arial"/>
                <a:cs typeface="Arial"/>
              </a:rPr>
              <a:t>Multilingual access </a:t>
            </a:r>
            <a:r>
              <a:rPr sz="1388">
                <a:solidFill>
                  <a:srgbClr val="12231E"/>
                </a:solidFill>
                <a:latin typeface="Arial"/>
                <a:ea typeface="Arial"/>
                <a:cs typeface="Arial"/>
              </a:rPr>
              <a:t>in English, Hindi and Marathi with voice support.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388">
                <a:solidFill>
                  <a:srgbClr val="12231E"/>
                </a:solidFill>
                <a:latin typeface="Arial"/>
                <a:ea typeface="Arial"/>
                <a:cs typeface="Arial"/>
              </a:defRPr>
            </a:pPr>
            <a:r>
              <a:rPr sz="1388" b="1">
                <a:solidFill>
                  <a:srgbClr val="12231E"/>
                </a:solidFill>
                <a:latin typeface="Arial"/>
                <a:ea typeface="Arial"/>
                <a:cs typeface="Arial"/>
              </a:rPr>
              <a:t>Fairer exchange </a:t>
            </a:r>
            <a:r>
              <a:rPr sz="1388">
                <a:solidFill>
                  <a:srgbClr val="12231E"/>
                </a:solidFill>
                <a:latin typeface="Arial"/>
                <a:ea typeface="Arial"/>
                <a:cs typeface="Arial"/>
              </a:rPr>
              <a:t>through material classification, benchmark pricing and direct matching.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2fdfe3465548d2"/>
          <a:srcRect xmlns:a="http://schemas.openxmlformats.org/drawingml/2006/main" l="6283" t="0" r="628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57875" y="1695450"/>
            <a:ext cx="5724525" cy="3876675"/>
          </a:xfrm>
          <a:prstGeom xmlns:a="http://schemas.openxmlformats.org/drawingml/2006/main" prst="roundRect">
            <a:avLst>
              <a:gd name="adj" fmla="val 2948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7443C2-C142-4803-94EB-9D9486CB2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5772150"/>
            <a:ext cx="15240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1DF"/>
          </a:solidFill>
          <a:ln xmlns:a="http://schemas.openxmlformats.org/drawingml/2006/main" w="9525">
            <a:solidFill>
              <a:srgbClr val="D9E1DB"/>
            </a:solidFill>
          </a:ln>
        </p:spPr>
        <p:txBody>
          <a:bodyPr xmlns:a="http://schemas.openxmlformats.org/drawingml/2006/main" lIns="76200" tIns="38100" rIns="76200" bIns="38100" anchor="ctr">
            <a:normAutofit fontScale="9547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65C4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65C43"/>
                </a:solidFill>
                <a:latin typeface="Arial"/>
                <a:ea typeface="Arial"/>
                <a:cs typeface="Arial"/>
              </a:rPr>
              <a:t>Photo or voice input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05F628-CDD7-4A43-B02E-D89DF51B8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772150"/>
            <a:ext cx="1381125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1DF"/>
          </a:solidFill>
          <a:ln xmlns:a="http://schemas.openxmlformats.org/drawingml/2006/main" w="9525">
            <a:solidFill>
              <a:srgbClr val="D9E1DB"/>
            </a:solidFill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65C4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65C43"/>
                </a:solidFill>
                <a:latin typeface="Arial"/>
                <a:ea typeface="Arial"/>
                <a:cs typeface="Arial"/>
              </a:rPr>
              <a:t>Price estimate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6F239A-B024-44A4-AAA7-AF7868FE6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772150"/>
            <a:ext cx="1428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1DF"/>
          </a:solidFill>
          <a:ln xmlns:a="http://schemas.openxmlformats.org/drawingml/2006/main" w="9525">
            <a:solidFill>
              <a:srgbClr val="D9E1DB"/>
            </a:solidFill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65C4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65C43"/>
                </a:solidFill>
                <a:latin typeface="Arial"/>
                <a:ea typeface="Arial"/>
                <a:cs typeface="Arial"/>
              </a:rPr>
              <a:t>Pickup booking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182DB2-DFA5-4ACE-A52D-556DAA95B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1D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0D8578-F30C-4F50-A7E5-61D19CB88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704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1" i="0">
                <a:solidFill>
                  <a:srgbClr val="586A63"/>
                </a:solidFill>
                <a:latin typeface="Arial"/>
                <a:ea typeface="Arial"/>
                <a:cs typeface="Arial"/>
              </a:defRPr>
            </a:pPr>
            <a:r>
              <a:rPr sz="863" b="1" i="0">
                <a:solidFill>
                  <a:srgbClr val="586A63"/>
                </a:solidFill>
                <a:latin typeface="Arial"/>
                <a:ea typeface="Arial"/>
                <a:cs typeface="Arial"/>
              </a:rPr>
              <a:t>SCRAPSETU  |  PS 26229  |  SOFTWARE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FFF0F4-E31F-48C4-8ADD-DD18B5ED3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572250"/>
            <a:ext cx="2724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63" b="0" i="0">
                <a:solidFill>
                  <a:srgbClr val="165C43"/>
                </a:solidFill>
                <a:latin typeface="Arial"/>
                <a:ea typeface="Arial"/>
                <a:cs typeface="Arial"/>
              </a:defRPr>
            </a:pPr>
            <a:r>
              <a:rPr sz="863" b="0" i="0">
                <a:solidFill>
                  <a:srgbClr val="165C43"/>
                </a:solidFill>
                <a:latin typeface="Arial"/>
                <a:ea typeface="Arial"/>
                <a:cs typeface="Arial"/>
              </a:rPr>
              <a:t>scrapsetu.vercel.app</a:t>
            </a:r>
          </a:p>
        </p:txBody>
      </p:sp>
    </p:spTree>
    <p:extLst>
      <p:ext uri="{BB962C8B-B14F-4D97-AF65-F5344CB8AC3E}">
        <p14:creationId xmlns:p14="http://schemas.microsoft.com/office/powerpoint/2010/main" val="27154381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772E5C3-F8C9-4BDF-A3A1-1F7071168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67B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A17CE5-274D-4DE2-9202-2DC701EB8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1967B3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967B3"/>
                </a:solidFill>
                <a:latin typeface="Arial"/>
                <a:ea typeface="Arial"/>
                <a:cs typeface="Arial"/>
              </a:rPr>
              <a:t>SMART INDIA HACKATHON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B6FE3A-5735-4C4A-A14F-AE8AEEEE5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7622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75" b="1" i="0">
                <a:solidFill>
                  <a:srgbClr val="F28C28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28C2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8D4926-460B-4A2C-ABD8-0A6FEA61E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2870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25" b="1" i="0">
                <a:solidFill>
                  <a:srgbClr val="0B3158"/>
                </a:solidFill>
                <a:latin typeface="Arial"/>
                <a:ea typeface="Arial"/>
                <a:cs typeface="Arial"/>
              </a:defRPr>
            </a:pPr>
            <a:r>
              <a:rPr sz="3225" b="1" i="0">
                <a:solidFill>
                  <a:srgbClr val="0B3158"/>
                </a:solidFill>
                <a:latin typeface="Arial"/>
                <a:ea typeface="Arial"/>
                <a:cs typeface="Arial"/>
              </a:rPr>
              <a:t>TECHNICAL APPROACH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365C0E-8A04-4F9C-972D-9510CE133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586A63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86A63"/>
                </a:solidFill>
                <a:latin typeface="Arial"/>
                <a:ea typeface="Arial"/>
                <a:cs typeface="Arial"/>
              </a:rPr>
              <a:t>A traceable path from material intake to EPR reporting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4EA3BE-51E7-43D2-9597-25513EC01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33575"/>
            <a:ext cx="1657350" cy="18097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11430">
            <a:solidFill>
              <a:srgbClr val="1967B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0D9B54-B238-4732-A9EA-FAAA09455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050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1967B3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967B3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8DFF90-B62B-4303-BF1D-1B90BC664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24125"/>
            <a:ext cx="1314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 i="0">
                <a:solidFill>
                  <a:srgbClr val="073B32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73B32"/>
                </a:solidFill>
                <a:latin typeface="Arial"/>
                <a:ea typeface="Arial"/>
                <a:cs typeface="Arial"/>
              </a:rPr>
              <a:t>Capture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C29DA8-0324-400A-AEBA-A16EA115A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0375"/>
            <a:ext cx="1314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38" b="0" i="0">
                <a:solidFill>
                  <a:srgbClr val="586A63"/>
                </a:solidFill>
                <a:latin typeface="Arial"/>
                <a:ea typeface="Arial"/>
                <a:cs typeface="Arial"/>
              </a:defRPr>
            </a:pPr>
            <a:r>
              <a:rPr sz="1238" b="0" i="0">
                <a:solidFill>
                  <a:srgbClr val="586A63"/>
                </a:solidFill>
                <a:latin typeface="Arial"/>
                <a:ea typeface="Arial"/>
                <a:cs typeface="Arial"/>
              </a:rPr>
              <a:t>Photo, voice or material details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BCBC5B-EEF5-42E4-BCFE-DB2FC1795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933575"/>
            <a:ext cx="1657350" cy="18097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1D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DE8ADC-2C57-4E91-97AC-7CEBE9981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1050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F28C28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28C2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D71AD5-A710-45F8-9E77-5AD00A5C8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524125"/>
            <a:ext cx="1314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 i="0">
                <a:solidFill>
                  <a:srgbClr val="073B32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73B32"/>
                </a:solidFill>
                <a:latin typeface="Arial"/>
                <a:ea typeface="Arial"/>
                <a:cs typeface="Arial"/>
              </a:rPr>
              <a:t>Classify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B65805-525C-41D5-945D-D1F38DAEE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000375"/>
            <a:ext cx="1314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616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38" b="0" i="0">
                <a:solidFill>
                  <a:srgbClr val="586A63"/>
                </a:solidFill>
                <a:latin typeface="Arial"/>
                <a:ea typeface="Arial"/>
                <a:cs typeface="Arial"/>
              </a:defRPr>
            </a:pPr>
            <a:r>
              <a:rPr sz="1238" b="0" i="0">
                <a:solidFill>
                  <a:srgbClr val="586A63"/>
                </a:solidFill>
                <a:latin typeface="Arial"/>
                <a:ea typeface="Arial"/>
                <a:cs typeface="Arial"/>
              </a:rPr>
              <a:t>CPCB category, condition and hazards</a:t>
            </a:r>
          </a:p>
        </p:txBody>
      </p:sp>
      <p:cxnSp>
        <p:nvCxnSpPr>
          <p:cNvPr id="64" name=""/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266950" y="283845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28C28"/>
            </a:solidFill>
            <a:prstDash val="solid"/>
            <a:headEnd type="arrow" w="sm" len="sm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0D175E-D214-42D1-8E7B-D7EE43D39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933575"/>
            <a:ext cx="1657350" cy="18097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1D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EA227B-79CB-400F-8C0D-D41D201C9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050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F28C28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28C2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73E010-9BCF-4261-A96D-70FF86EC2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24125"/>
            <a:ext cx="1314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 i="0">
                <a:solidFill>
                  <a:srgbClr val="073B32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73B32"/>
                </a:solidFill>
                <a:latin typeface="Arial"/>
                <a:ea typeface="Arial"/>
                <a:cs typeface="Arial"/>
              </a:rPr>
              <a:t>Value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AFC8F2-ECBE-433E-B983-17CF55845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00375"/>
            <a:ext cx="1314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38" b="0" i="0">
                <a:solidFill>
                  <a:srgbClr val="586A63"/>
                </a:solidFill>
                <a:latin typeface="Arial"/>
                <a:ea typeface="Arial"/>
                <a:cs typeface="Arial"/>
              </a:defRPr>
            </a:pPr>
            <a:r>
              <a:rPr sz="1238" b="0" i="0">
                <a:solidFill>
                  <a:srgbClr val="586A63"/>
                </a:solidFill>
                <a:latin typeface="Arial"/>
                <a:ea typeface="Arial"/>
                <a:cs typeface="Arial"/>
              </a:rPr>
              <a:t>Weight × Delhi benchmark rate</a:t>
            </a:r>
          </a:p>
        </p:txBody>
      </p:sp>
      <p:cxnSp>
        <p:nvCxnSpPr>
          <p:cNvPr id="69" name=""/>
          <p:cNvCxnSpPr>
            <a:stCxn xmlns:a="http://schemas.openxmlformats.org/drawingml/2006/main" id="10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4114800" y="283845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28C28"/>
            </a:solidFill>
            <a:prstDash val="solid"/>
            <a:headEnd type="arrow" w="sm" len="sm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603EFD-192A-43F6-B3E1-48D2A9C0B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933575"/>
            <a:ext cx="1657350" cy="18097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1DB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6D9319-144B-4C6B-9896-340706893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050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F28C28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28C2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DB7FB9-4EE4-4D7C-97F9-736D723AB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524125"/>
            <a:ext cx="1314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 i="0">
                <a:solidFill>
                  <a:srgbClr val="073B32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73B32"/>
                </a:solidFill>
                <a:latin typeface="Arial"/>
                <a:ea typeface="Arial"/>
                <a:cs typeface="Arial"/>
              </a:rPr>
              <a:t>Match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EABC72-5E61-4C4F-88A6-9328FFF6D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00375"/>
            <a:ext cx="1314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38" b="0" i="0">
                <a:solidFill>
                  <a:srgbClr val="586A63"/>
                </a:solidFill>
                <a:latin typeface="Arial"/>
                <a:ea typeface="Arial"/>
                <a:cs typeface="Arial"/>
              </a:defRPr>
            </a:pPr>
            <a:r>
              <a:rPr sz="1238" b="0" i="0">
                <a:solidFill>
                  <a:srgbClr val="586A63"/>
                </a:solidFill>
                <a:latin typeface="Arial"/>
                <a:ea typeface="Arial"/>
                <a:cs typeface="Arial"/>
              </a:rPr>
              <a:t>Location, category and recycler rate</a:t>
            </a:r>
          </a:p>
        </p:txBody>
      </p:sp>
      <p:cxnSp>
        <p:nvCxnSpPr>
          <p:cNvPr id="74" name=""/>
          <p:cNvCxnSpPr>
            <a:stCxn xmlns:a="http://schemas.openxmlformats.org/drawingml/2006/main" id="15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5962650" y="283845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28C28"/>
            </a:solidFill>
            <a:prstDash val="solid"/>
            <a:headEnd type="arrow" w="sm" len="sm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EA27D9-E5C2-47D7-998B-2FCF146CE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33575"/>
            <a:ext cx="1657350" cy="18097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1DB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E981C34-7EB3-4520-B52E-F7695EE12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050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F28C28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28C2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DE4221D-A10C-4430-B079-B6A851D06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24125"/>
            <a:ext cx="1314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 i="0">
                <a:solidFill>
                  <a:srgbClr val="073B32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73B32"/>
                </a:solidFill>
                <a:latin typeface="Arial"/>
                <a:ea typeface="Arial"/>
                <a:cs typeface="Arial"/>
              </a:rPr>
              <a:t>Verify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E3A5A2C-F55E-4CE0-96F2-5F4E0BE77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00375"/>
            <a:ext cx="1314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89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38" b="0" i="0">
                <a:solidFill>
                  <a:srgbClr val="586A63"/>
                </a:solidFill>
                <a:latin typeface="Arial"/>
                <a:ea typeface="Arial"/>
                <a:cs typeface="Arial"/>
              </a:defRPr>
            </a:pPr>
            <a:r>
              <a:rPr sz="1238" b="0" i="0">
                <a:solidFill>
                  <a:srgbClr val="586A63"/>
                </a:solidFill>
                <a:latin typeface="Arial"/>
                <a:ea typeface="Arial"/>
                <a:cs typeface="Arial"/>
              </a:rPr>
              <a:t>Weighbridge check and QR handover</a:t>
            </a:r>
          </a:p>
        </p:txBody>
      </p:sp>
      <p:cxnSp>
        <p:nvCxnSpPr>
          <p:cNvPr id="79" name=""/>
          <p:cNvCxnSpPr>
            <a:stCxn xmlns:a="http://schemas.openxmlformats.org/drawingml/2006/main" id="20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7810500" y="283845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28C28"/>
            </a:solidFill>
            <a:prstDash val="solid"/>
            <a:headEnd type="arrow" w="sm" len="sm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29490A2-FC48-4E0C-A100-C576C1607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1933575"/>
            <a:ext cx="1657350" cy="18097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1DB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A4D78FF-AA6B-4DCF-B0F7-C844D9315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1050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F28C28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28C2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C2A908E-CF81-431D-8C4E-E0721AB87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524125"/>
            <a:ext cx="1314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 i="0">
                <a:solidFill>
                  <a:srgbClr val="073B32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73B32"/>
                </a:solidFill>
                <a:latin typeface="Arial"/>
                <a:ea typeface="Arial"/>
                <a:cs typeface="Arial"/>
              </a:rPr>
              <a:t>Report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A59BE70-930A-4CD4-9095-528EF08F1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000375"/>
            <a:ext cx="1314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38" b="0" i="0">
                <a:solidFill>
                  <a:srgbClr val="586A63"/>
                </a:solidFill>
                <a:latin typeface="Arial"/>
                <a:ea typeface="Arial"/>
                <a:cs typeface="Arial"/>
              </a:defRPr>
            </a:pPr>
            <a:r>
              <a:rPr sz="1238" b="0" i="0">
                <a:solidFill>
                  <a:srgbClr val="586A63"/>
                </a:solidFill>
                <a:latin typeface="Arial"/>
                <a:ea typeface="Arial"/>
                <a:cs typeface="Arial"/>
              </a:rPr>
              <a:t>Chain of custody and EPR export</a:t>
            </a:r>
          </a:p>
        </p:txBody>
      </p:sp>
      <p:cxnSp>
        <p:nvCxnSpPr>
          <p:cNvPr id="84" name=""/>
          <p:cNvCxnSpPr>
            <a:stCxn xmlns:a="http://schemas.openxmlformats.org/drawingml/2006/main" id="25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>
            <a:off x="9658350" y="283845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28C28"/>
            </a:solidFill>
            <a:prstDash val="solid"/>
            <a:headEnd type="arrow" w="sm" len="sm"/>
          </a:ln>
        </p:spPr>
      </p:cxn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EDEB9C7-007C-48EE-9A1B-0B8C0D17B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719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 i="0">
                <a:solidFill>
                  <a:srgbClr val="073B32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73B32"/>
                </a:solidFill>
                <a:latin typeface="Arial"/>
                <a:ea typeface="Arial"/>
                <a:cs typeface="Arial"/>
              </a:rPr>
              <a:t>Technology stack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4DEB856-38DA-4EE5-9F5E-371A1FE4A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8630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967B3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8EF0B01-14E7-4855-B8BF-3383AE8AD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48225"/>
            <a:ext cx="238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F28C2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28C28"/>
                </a:solidFill>
                <a:latin typeface="Arial"/>
                <a:ea typeface="Arial"/>
                <a:cs typeface="Arial"/>
              </a:rPr>
              <a:t>INTERFACE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2F81352-C188-45A1-BDEA-85F093C17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6255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12231E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2231E"/>
                </a:solidFill>
                <a:latin typeface="Arial"/>
                <a:ea typeface="Arial"/>
                <a:cs typeface="Arial"/>
              </a:rPr>
              <a:t>Next.js 16, React 19, TypeScript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F047677-7C13-4D9D-B383-11C189310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68630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65C43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15213AE-463B-461C-BBD5-29B8ED8A6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848225"/>
            <a:ext cx="238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F28C2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28C28"/>
                </a:solidFill>
                <a:latin typeface="Arial"/>
                <a:ea typeface="Arial"/>
                <a:cs typeface="Arial"/>
              </a:rPr>
              <a:t>INTELLIGENCE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7C2564D-4D22-4C36-9951-B149605F8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16255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12231E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2231E"/>
                </a:solidFill>
                <a:latin typeface="Arial"/>
                <a:ea typeface="Arial"/>
                <a:cs typeface="Arial"/>
              </a:rPr>
              <a:t>Gemini 2.5 Flash with grounded fallback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8942B23-F156-4E16-B098-2D5AC148B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8630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65C43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24BAFF9-9EA0-421A-9329-897712D89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48225"/>
            <a:ext cx="238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F28C2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28C28"/>
                </a:solidFill>
                <a:latin typeface="Arial"/>
                <a:ea typeface="Arial"/>
                <a:cs typeface="Arial"/>
              </a:rPr>
              <a:t>DATA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45A3659-AE23-4D1E-80B2-B31167A49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6255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12231E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2231E"/>
                </a:solidFill>
                <a:latin typeface="Arial"/>
                <a:ea typeface="Arial"/>
                <a:cs typeface="Arial"/>
              </a:rPr>
              <a:t>Supabase Postgres with geo matching design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0A5CC24-A73F-41F1-9661-210A121EB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68630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65C43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C5CA0DE-E088-48F5-ACD9-DD589302F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848225"/>
            <a:ext cx="238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F28C2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28C28"/>
                </a:solidFill>
                <a:latin typeface="Arial"/>
                <a:ea typeface="Arial"/>
                <a:cs typeface="Arial"/>
              </a:rPr>
              <a:t>DELIVERY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C1DB233-88E9-423B-90FF-E97C4AABA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516255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12231E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2231E"/>
                </a:solidFill>
                <a:latin typeface="Arial"/>
                <a:ea typeface="Arial"/>
                <a:cs typeface="Arial"/>
              </a:rPr>
              <a:t>Vercel production deployment in Mumbai region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3958759-961F-4A0D-AA14-6C20A3116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1DB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0F33430-F4AF-4FE0-ACFD-1CDFEC1C9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704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1" i="0">
                <a:solidFill>
                  <a:srgbClr val="586A63"/>
                </a:solidFill>
                <a:latin typeface="Arial"/>
                <a:ea typeface="Arial"/>
                <a:cs typeface="Arial"/>
              </a:defRPr>
            </a:pPr>
            <a:r>
              <a:rPr sz="863" b="1" i="0">
                <a:solidFill>
                  <a:srgbClr val="586A63"/>
                </a:solidFill>
                <a:latin typeface="Arial"/>
                <a:ea typeface="Arial"/>
                <a:cs typeface="Arial"/>
              </a:rPr>
              <a:t>SCRAPSETU  |  PS 26229  |  SOFTWARE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9C0C5D3-7536-42E7-9E57-BE9D66728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572250"/>
            <a:ext cx="2724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63" b="0" i="0">
                <a:solidFill>
                  <a:srgbClr val="165C43"/>
                </a:solidFill>
                <a:latin typeface="Arial"/>
                <a:ea typeface="Arial"/>
                <a:cs typeface="Arial"/>
              </a:defRPr>
            </a:pPr>
            <a:r>
              <a:rPr sz="863" b="0" i="0">
                <a:solidFill>
                  <a:srgbClr val="165C43"/>
                </a:solidFill>
                <a:latin typeface="Arial"/>
                <a:ea typeface="Arial"/>
                <a:cs typeface="Arial"/>
              </a:rPr>
              <a:t>scrapsetu.vercel.app</a:t>
            </a:r>
          </a:p>
        </p:txBody>
      </p:sp>
    </p:spTree>
    <p:extLst>
      <p:ext uri="{BB962C8B-B14F-4D97-AF65-F5344CB8AC3E}">
        <p14:creationId xmlns:p14="http://schemas.microsoft.com/office/powerpoint/2010/main" val="70001202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FAD2CC-3863-44DC-A931-0FA44B82C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67B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1A71BF-F479-4861-83F6-56DD05E2B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1967B3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967B3"/>
                </a:solidFill>
                <a:latin typeface="Arial"/>
                <a:ea typeface="Arial"/>
                <a:cs typeface="Arial"/>
              </a:rPr>
              <a:t>SMART INDIA HACKATHON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EC9795-BED6-46E5-9250-52DFCB9B5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7622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75" b="1" i="0">
                <a:solidFill>
                  <a:srgbClr val="F28C28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28C2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F201C3-83A3-471F-B194-A87B65F2F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2870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25" b="1" i="0">
                <a:solidFill>
                  <a:srgbClr val="0B3158"/>
                </a:solidFill>
                <a:latin typeface="Arial"/>
                <a:ea typeface="Arial"/>
                <a:cs typeface="Arial"/>
              </a:defRPr>
            </a:pPr>
            <a:r>
              <a:rPr sz="3225" b="1" i="0">
                <a:solidFill>
                  <a:srgbClr val="0B3158"/>
                </a:solidFill>
                <a:latin typeface="Arial"/>
                <a:ea typeface="Arial"/>
                <a:cs typeface="Arial"/>
              </a:rPr>
              <a:t>FEASIBILITY AND VIABILITY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439C4C-5E12-4D2B-AEB2-341073660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586A63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86A63"/>
                </a:solidFill>
                <a:latin typeface="Arial"/>
                <a:ea typeface="Arial"/>
                <a:cs typeface="Arial"/>
              </a:rPr>
              <a:t>The working prototype already covers the pilot's core operational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FA2C9F-A9DB-4A64-BD4D-A8498E515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95450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 i="0">
                <a:solidFill>
                  <a:srgbClr val="073B32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73B32"/>
                </a:solidFill>
                <a:latin typeface="Arial"/>
                <a:ea typeface="Arial"/>
                <a:cs typeface="Arial"/>
              </a:rPr>
              <a:t>Working today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74C30C-5511-42CD-BC4B-351D22661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90750"/>
            <a:ext cx="4552950" cy="2352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79400" indent="-139700">
              <a:lnSpc>
                <a:spcPct val="105000"/>
              </a:lnSpc>
              <a:spcAft>
                <a:spcPts val="1100"/>
              </a:spcAft>
              <a:buNone/>
              <a:defRPr sz="1365">
                <a:solidFill>
                  <a:srgbClr val="12231E"/>
                </a:solidFill>
                <a:latin typeface="Arial"/>
                <a:ea typeface="Arial"/>
                <a:cs typeface="Arial"/>
              </a:defRPr>
            </a:pPr>
            <a:r>
              <a:rPr sz="1365">
                <a:solidFill>
                  <a:srgbClr val="12231E"/>
                </a:solidFill>
                <a:latin typeface="Arial"/>
                <a:ea typeface="Arial"/>
                <a:cs typeface="Arial"/>
              </a:rPr>
              <a:t>Responsive citizen, collector, recycler and regulator workspaces</a:t>
            </a:r>
          </a:p>
          <a:p xmlns:a="http://schemas.openxmlformats.org/drawingml/2006/main">
            <a:pPr marL="279400" indent="-139700">
              <a:lnSpc>
                <a:spcPct val="105000"/>
              </a:lnSpc>
              <a:spcAft>
                <a:spcPts val="1100"/>
              </a:spcAft>
              <a:buNone/>
              <a:defRPr sz="1365">
                <a:solidFill>
                  <a:srgbClr val="12231E"/>
                </a:solidFill>
                <a:latin typeface="Arial"/>
                <a:ea typeface="Arial"/>
                <a:cs typeface="Arial"/>
              </a:defRPr>
            </a:pPr>
            <a:r>
              <a:rPr sz="1365">
                <a:solidFill>
                  <a:srgbClr val="12231E"/>
                </a:solidFill>
                <a:latin typeface="Arial"/>
                <a:ea typeface="Arial"/>
                <a:cs typeface="Arial"/>
              </a:rPr>
              <a:t>Scrap scanner, price estimator and multilingual voice guidance</a:t>
            </a:r>
          </a:p>
          <a:p xmlns:a="http://schemas.openxmlformats.org/drawingml/2006/main">
            <a:pPr marL="279400" indent="-139700">
              <a:lnSpc>
                <a:spcPct val="105000"/>
              </a:lnSpc>
              <a:spcAft>
                <a:spcPts val="1100"/>
              </a:spcAft>
              <a:buNone/>
              <a:defRPr sz="1365">
                <a:solidFill>
                  <a:srgbClr val="12231E"/>
                </a:solidFill>
                <a:latin typeface="Arial"/>
                <a:ea typeface="Arial"/>
                <a:cs typeface="Arial"/>
              </a:defRPr>
            </a:pPr>
            <a:r>
              <a:rPr sz="1365">
                <a:solidFill>
                  <a:srgbClr val="12231E"/>
                </a:solidFill>
                <a:latin typeface="Arial"/>
                <a:ea typeface="Arial"/>
                <a:cs typeface="Arial"/>
              </a:rPr>
              <a:t>Citizen pickup booking linked to collector operations</a:t>
            </a:r>
          </a:p>
          <a:p xmlns:a="http://schemas.openxmlformats.org/drawingml/2006/main">
            <a:pPr marL="279400" indent="-139700">
              <a:lnSpc>
                <a:spcPct val="105000"/>
              </a:lnSpc>
              <a:spcAft>
                <a:spcPts val="1100"/>
              </a:spcAft>
              <a:buNone/>
              <a:defRPr sz="1365">
                <a:solidFill>
                  <a:srgbClr val="12231E"/>
                </a:solidFill>
                <a:latin typeface="Arial"/>
                <a:ea typeface="Arial"/>
                <a:cs typeface="Arial"/>
              </a:defRPr>
            </a:pPr>
            <a:r>
              <a:rPr sz="1365">
                <a:solidFill>
                  <a:srgbClr val="12231E"/>
                </a:solidFill>
                <a:latin typeface="Arial"/>
                <a:ea typeface="Arial"/>
                <a:cs typeface="Arial"/>
              </a:rPr>
              <a:t>Recycler matching, weighbridge verification and QR handover</a:t>
            </a:r>
          </a:p>
          <a:p xmlns:a="http://schemas.openxmlformats.org/drawingml/2006/main">
            <a:pPr marL="279400" indent="-139700">
              <a:lnSpc>
                <a:spcPct val="105000"/>
              </a:lnSpc>
              <a:spcAft>
                <a:spcPts val="1100"/>
              </a:spcAft>
              <a:buNone/>
              <a:defRPr sz="1365">
                <a:solidFill>
                  <a:srgbClr val="12231E"/>
                </a:solidFill>
                <a:latin typeface="Arial"/>
                <a:ea typeface="Arial"/>
                <a:cs typeface="Arial"/>
              </a:defRPr>
            </a:pPr>
            <a:r>
              <a:rPr sz="1365">
                <a:solidFill>
                  <a:srgbClr val="12231E"/>
                </a:solidFill>
                <a:latin typeface="Arial"/>
                <a:ea typeface="Arial"/>
                <a:cs typeface="Arial"/>
              </a:rPr>
              <a:t>Exportable audit manifest for EPR reporting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8AB86F-760B-46FD-A32D-BA13DBB75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00600"/>
            <a:ext cx="423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 i="0">
                <a:solidFill>
                  <a:srgbClr val="073B32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73B32"/>
                </a:solidFill>
                <a:latin typeface="Arial"/>
                <a:ea typeface="Arial"/>
                <a:cs typeface="Arial"/>
              </a:rPr>
              <a:t>Dependencies and safeguards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137D0D-A03A-4562-B2B2-572EBC349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57800"/>
            <a:ext cx="4762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2672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60">
                <a:solidFill>
                  <a:srgbClr val="12231E"/>
                </a:solidFill>
                <a:latin typeface="Arial"/>
                <a:ea typeface="Arial"/>
                <a:cs typeface="Arial"/>
              </a:defRPr>
            </a:pPr>
            <a:r>
              <a:rPr sz="1260" b="1">
                <a:solidFill>
                  <a:srgbClr val="12231E"/>
                </a:solidFill>
                <a:latin typeface="Arial"/>
                <a:ea typeface="Arial"/>
                <a:cs typeface="Arial"/>
              </a:rPr>
              <a:t>AI availability  </a:t>
            </a:r>
            <a:r>
              <a:rPr sz="1260">
                <a:solidFill>
                  <a:srgbClr val="12231E"/>
                </a:solidFill>
                <a:latin typeface="Arial"/>
                <a:ea typeface="Arial"/>
                <a:cs typeface="Arial"/>
              </a:rPr>
              <a:t>Grounded classification fallback when the Gemini key or network is unavailable.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260">
                <a:solidFill>
                  <a:srgbClr val="12231E"/>
                </a:solidFill>
                <a:latin typeface="Arial"/>
                <a:ea typeface="Arial"/>
                <a:cs typeface="Arial"/>
              </a:defRPr>
            </a:pPr>
            <a:r>
              <a:rPr sz="1260" b="1">
                <a:solidFill>
                  <a:srgbClr val="12231E"/>
                </a:solidFill>
                <a:latin typeface="Arial"/>
                <a:ea typeface="Arial"/>
                <a:cs typeface="Arial"/>
              </a:rPr>
              <a:t>Pilot data  </a:t>
            </a:r>
            <a:r>
              <a:rPr sz="1260">
                <a:solidFill>
                  <a:srgbClr val="12231E"/>
                </a:solidFill>
                <a:latin typeface="Arial"/>
                <a:ea typeface="Arial"/>
                <a:cs typeface="Arial"/>
              </a:rPr>
              <a:t>Replace demonstration rates with verified recycler feeds before field rollout.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260">
                <a:solidFill>
                  <a:srgbClr val="12231E"/>
                </a:solidFill>
                <a:latin typeface="Arial"/>
                <a:ea typeface="Arial"/>
                <a:cs typeface="Arial"/>
              </a:defRPr>
            </a:pPr>
            <a:r>
              <a:rPr sz="1260" b="1">
                <a:solidFill>
                  <a:srgbClr val="12231E"/>
                </a:solidFill>
                <a:latin typeface="Arial"/>
                <a:ea typeface="Arial"/>
                <a:cs typeface="Arial"/>
              </a:rPr>
              <a:t>Compliance  </a:t>
            </a:r>
            <a:r>
              <a:rPr sz="1260">
                <a:solidFill>
                  <a:srgbClr val="12231E"/>
                </a:solidFill>
                <a:latin typeface="Arial"/>
                <a:ea typeface="Arial"/>
                <a:cs typeface="Arial"/>
              </a:rPr>
              <a:t>Validate manifest fields and operating roles with DPCC and authorized recyclers.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aa1fabde6944af"/>
          <a:srcRect xmlns:a="http://schemas.openxmlformats.org/drawingml/2006/main" l="5361" t="0" r="536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81675" y="1695450"/>
            <a:ext cx="5800725" cy="3505200"/>
          </a:xfrm>
          <a:prstGeom xmlns:a="http://schemas.openxmlformats.org/drawingml/2006/main" prst="roundRect">
            <a:avLst>
              <a:gd name="adj" fmla="val 3261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99B791-BCB5-4098-8A6C-C75C0212F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54483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165C43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65C43"/>
                </a:solidFill>
                <a:latin typeface="Arial"/>
                <a:ea typeface="Arial"/>
                <a:cs typeface="Arial"/>
              </a:rPr>
              <a:t>Pilot path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C82B12-4F6C-4F0A-948A-7261DF998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581025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F28C2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28C28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63A0D1-A09F-414F-A104-27EC4E241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772150"/>
            <a:ext cx="1066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88" b="0" i="0">
                <a:solidFill>
                  <a:srgbClr val="12231E"/>
                </a:solidFill>
                <a:latin typeface="Arial"/>
                <a:ea typeface="Arial"/>
                <a:cs typeface="Arial"/>
              </a:defRPr>
            </a:pPr>
            <a:r>
              <a:rPr sz="1088" b="0" i="0">
                <a:solidFill>
                  <a:srgbClr val="12231E"/>
                </a:solidFill>
                <a:latin typeface="Arial"/>
                <a:ea typeface="Arial"/>
                <a:cs typeface="Arial"/>
              </a:rPr>
              <a:t>5 Delhi clusters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29DDB7-6303-4256-B437-196DCAED4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581025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F28C2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28C2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DD1348-3671-4E48-8365-D6BBC9D72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772150"/>
            <a:ext cx="1066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983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88" b="0" i="0">
                <a:solidFill>
                  <a:srgbClr val="12231E"/>
                </a:solidFill>
                <a:latin typeface="Arial"/>
                <a:ea typeface="Arial"/>
                <a:cs typeface="Arial"/>
              </a:defRPr>
            </a:pPr>
            <a:r>
              <a:rPr sz="1088" b="0" i="0">
                <a:solidFill>
                  <a:srgbClr val="12231E"/>
                </a:solidFill>
                <a:latin typeface="Arial"/>
                <a:ea typeface="Arial"/>
                <a:cs typeface="Arial"/>
              </a:rPr>
              <a:t>Authorized recycler onboarding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5A3F95-1514-4C40-9DF9-8E301FC8D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581025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F28C2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28C2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C452FB-E641-4B50-AC20-2A5C1B5BA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772150"/>
            <a:ext cx="1066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88" b="0" i="0">
                <a:solidFill>
                  <a:srgbClr val="12231E"/>
                </a:solidFill>
                <a:latin typeface="Arial"/>
                <a:ea typeface="Arial"/>
                <a:cs typeface="Arial"/>
              </a:defRPr>
            </a:pPr>
            <a:r>
              <a:rPr sz="1088" b="0" i="0">
                <a:solidFill>
                  <a:srgbClr val="12231E"/>
                </a:solidFill>
                <a:latin typeface="Arial"/>
                <a:ea typeface="Arial"/>
                <a:cs typeface="Arial"/>
              </a:rPr>
              <a:t>Measured handovers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B9EA14-3BCA-4C7E-ACB1-E11D84E38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581025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F28C2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28C2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1A84B1-96D8-46A7-846C-902D3BD1B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5772150"/>
            <a:ext cx="1066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88" b="0" i="0">
                <a:solidFill>
                  <a:srgbClr val="12231E"/>
                </a:solidFill>
                <a:latin typeface="Arial"/>
                <a:ea typeface="Arial"/>
                <a:cs typeface="Arial"/>
              </a:defRPr>
            </a:pPr>
            <a:r>
              <a:rPr sz="1088" b="0" i="0">
                <a:solidFill>
                  <a:srgbClr val="12231E"/>
                </a:solidFill>
                <a:latin typeface="Arial"/>
                <a:ea typeface="Arial"/>
                <a:cs typeface="Arial"/>
              </a:rPr>
              <a:t>EPR integration review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CD1F8B-A87D-4098-8436-432ABF911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1DB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019828-E320-41F5-AFAC-E1F6BCD55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704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1" i="0">
                <a:solidFill>
                  <a:srgbClr val="586A63"/>
                </a:solidFill>
                <a:latin typeface="Arial"/>
                <a:ea typeface="Arial"/>
                <a:cs typeface="Arial"/>
              </a:defRPr>
            </a:pPr>
            <a:r>
              <a:rPr sz="863" b="1" i="0">
                <a:solidFill>
                  <a:srgbClr val="586A63"/>
                </a:solidFill>
                <a:latin typeface="Arial"/>
                <a:ea typeface="Arial"/>
                <a:cs typeface="Arial"/>
              </a:rPr>
              <a:t>SCRAPSETU  |  PS 26229  |  SOFTWARE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2E677B-FB91-4195-AE2C-CC3301C04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572250"/>
            <a:ext cx="2724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63" b="0" i="0">
                <a:solidFill>
                  <a:srgbClr val="165C43"/>
                </a:solidFill>
                <a:latin typeface="Arial"/>
                <a:ea typeface="Arial"/>
                <a:cs typeface="Arial"/>
              </a:defRPr>
            </a:pPr>
            <a:r>
              <a:rPr sz="863" b="0" i="0">
                <a:solidFill>
                  <a:srgbClr val="165C43"/>
                </a:solidFill>
                <a:latin typeface="Arial"/>
                <a:ea typeface="Arial"/>
                <a:cs typeface="Arial"/>
              </a:rPr>
              <a:t>scrapsetu.vercel.app</a:t>
            </a:r>
          </a:p>
        </p:txBody>
      </p:sp>
    </p:spTree>
    <p:extLst>
      <p:ext uri="{BB962C8B-B14F-4D97-AF65-F5344CB8AC3E}">
        <p14:creationId xmlns:p14="http://schemas.microsoft.com/office/powerpoint/2010/main" val="164948191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35C7261-9B41-4EC9-B393-DEB14F506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67B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98C5EA-812C-4716-9707-3BB5029F2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1967B3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967B3"/>
                </a:solidFill>
                <a:latin typeface="Arial"/>
                <a:ea typeface="Arial"/>
                <a:cs typeface="Arial"/>
              </a:rPr>
              <a:t>SMART INDIA HACKATHON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00AECC-D510-4602-A119-A9AAE65BA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7622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75" b="1" i="0">
                <a:solidFill>
                  <a:srgbClr val="F28C28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28C2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B3780A-4077-404A-BA26-192CCE9FD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2870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25" b="1" i="0">
                <a:solidFill>
                  <a:srgbClr val="0B3158"/>
                </a:solidFill>
                <a:latin typeface="Arial"/>
                <a:ea typeface="Arial"/>
                <a:cs typeface="Arial"/>
              </a:defRPr>
            </a:pPr>
            <a:r>
              <a:rPr sz="3225" b="1" i="0">
                <a:solidFill>
                  <a:srgbClr val="0B3158"/>
                </a:solidFill>
                <a:latin typeface="Arial"/>
                <a:ea typeface="Arial"/>
                <a:cs typeface="Arial"/>
              </a:rPr>
              <a:t>IMPACT AND BENEFITS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ED65AB-CB4E-48C9-A70D-2624F383B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586A63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86A63"/>
                </a:solidFill>
                <a:latin typeface="Arial"/>
                <a:ea typeface="Arial"/>
                <a:cs typeface="Arial"/>
              </a:rPr>
              <a:t>Each participant gains a clear next action and a shared record of the handover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DDA56C-7A66-4A8D-B1E1-6603E4D2D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419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F28C28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28C2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3780F7-D8D9-46FB-9169-52EBC4F39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1809750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165C43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65C43"/>
                </a:solidFill>
                <a:latin typeface="Arial"/>
                <a:ea typeface="Arial"/>
                <a:cs typeface="Arial"/>
              </a:rPr>
              <a:t>CITIZENS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D4BF4B-669F-41D3-BE21-0044DB6E7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2105025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12231E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2231E"/>
                </a:solidFill>
                <a:latin typeface="Arial"/>
                <a:ea typeface="Arial"/>
                <a:cs typeface="Arial"/>
              </a:rPr>
              <a:t>Estimate value and book a pickup without learning scrap categories.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92971A-F647-4150-9989-6539352F1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76525"/>
            <a:ext cx="419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F28C28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28C2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186D8A-1F37-45E5-B9A3-A65E6D78A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2676525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165C43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65C43"/>
                </a:solidFill>
                <a:latin typeface="Arial"/>
                <a:ea typeface="Arial"/>
                <a:cs typeface="Arial"/>
              </a:rPr>
              <a:t>COLLECTORS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8049FD-DCFE-46EA-8C4E-15006CBCB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297180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12231E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2231E"/>
                </a:solidFill>
                <a:latin typeface="Arial"/>
                <a:ea typeface="Arial"/>
                <a:cs typeface="Arial"/>
              </a:rPr>
              <a:t>Use benchmark prices, safety prompts and direct recycler matching.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FF9CEA-FDDA-4E33-898C-7E4550BB6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43300"/>
            <a:ext cx="419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F28C28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28C2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75A23F-7B36-4D57-A6BE-33996E273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3543300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165C43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65C43"/>
                </a:solidFill>
                <a:latin typeface="Arial"/>
                <a:ea typeface="Arial"/>
                <a:cs typeface="Arial"/>
              </a:rPr>
              <a:t>RECYCLERS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6F6BC3-51B9-4371-BD5A-94E55F0A4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3838575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12231E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2231E"/>
                </a:solidFill>
                <a:latin typeface="Arial"/>
                <a:ea typeface="Arial"/>
                <a:cs typeface="Arial"/>
              </a:rPr>
              <a:t>Receive classified lots with weight, condition and hazard context.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48C889-3720-4716-8B17-B80B473CD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10075"/>
            <a:ext cx="419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F28C28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28C2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CCA923-D8D8-4EB7-A994-70C7DA48E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4410075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165C43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65C43"/>
                </a:solidFill>
                <a:latin typeface="Arial"/>
                <a:ea typeface="Arial"/>
                <a:cs typeface="Arial"/>
              </a:rPr>
              <a:t>REGULATORS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FE14E2-EA49-4FCF-8FD3-19F27F62E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470535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12231E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2231E"/>
                </a:solidFill>
                <a:latin typeface="Arial"/>
                <a:ea typeface="Arial"/>
                <a:cs typeface="Arial"/>
              </a:rPr>
              <a:t>Review authorized facilities and export a traceable audit manifest.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F24329-25AB-4987-A3F9-C2973CE4D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00675"/>
            <a:ext cx="46005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1DB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499E1F-2BB1-4C38-B5F9-9796AFB82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19750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073B32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73B32"/>
                </a:solidFill>
                <a:latin typeface="Arial"/>
                <a:ea typeface="Arial"/>
                <a:cs typeface="Arial"/>
              </a:rPr>
              <a:t>Pilot measures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F829CF-8448-466C-9ED4-E3A9B23C2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6197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63" b="0" i="0">
                <a:solidFill>
                  <a:srgbClr val="586A63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586A63"/>
                </a:solidFill>
                <a:latin typeface="Arial"/>
                <a:ea typeface="Arial"/>
                <a:cs typeface="Arial"/>
              </a:rPr>
              <a:t>Estimate time   Price variance   Authorized routing   Traceable handovers</a:t>
            </a:r>
          </a:p>
        </p:txBody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ac296d3ec6419f"/>
          <a:srcRect xmlns:a="http://schemas.openxmlformats.org/drawingml/2006/main" l="3389" t="0" r="338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38875" y="1724025"/>
            <a:ext cx="1600200" cy="3714750"/>
          </a:xfrm>
          <a:prstGeom xmlns:a="http://schemas.openxmlformats.org/drawingml/2006/main" prst="roundRect">
            <a:avLst>
              <a:gd name="adj" fmla="val 7143"/>
            </a:avLst>
          </a:prstGeom>
        </p:spPr>
      </p:pic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94ebc9a23e4737"/>
          <a:srcRect xmlns:a="http://schemas.openxmlformats.org/drawingml/2006/main" l="3389" t="0" r="338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58150" y="1724025"/>
            <a:ext cx="1600200" cy="3714750"/>
          </a:xfrm>
          <a:prstGeom xmlns:a="http://schemas.openxmlformats.org/drawingml/2006/main" prst="roundRect">
            <a:avLst>
              <a:gd name="adj" fmla="val 7143"/>
            </a:avLst>
          </a:prstGeom>
        </p:spPr>
      </p:pic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5fff7040aa4be8"/>
          <a:srcRect xmlns:a="http://schemas.openxmlformats.org/drawingml/2006/main" l="3389" t="0" r="338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877425" y="1724025"/>
            <a:ext cx="1600200" cy="3714750"/>
          </a:xfrm>
          <a:prstGeom xmlns:a="http://schemas.openxmlformats.org/drawingml/2006/main" prst="roundRect">
            <a:avLst>
              <a:gd name="adj" fmla="val 7143"/>
            </a:avLst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062429-BB70-42CD-9644-C852C6A05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5600700"/>
            <a:ext cx="1600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165C43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65C43"/>
                </a:solidFill>
                <a:latin typeface="Arial"/>
                <a:ea typeface="Arial"/>
                <a:cs typeface="Arial"/>
              </a:rPr>
              <a:t>CITIZEN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A6ED69B-84F3-45B1-9423-DFAD1C537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600700"/>
            <a:ext cx="1600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165C43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65C43"/>
                </a:solidFill>
                <a:latin typeface="Arial"/>
                <a:ea typeface="Arial"/>
                <a:cs typeface="Arial"/>
              </a:rPr>
              <a:t>COLLECTOR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CE380E-41BF-4BF4-B18B-41FF8728C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5600700"/>
            <a:ext cx="1600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165C43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65C43"/>
                </a:solidFill>
                <a:latin typeface="Arial"/>
                <a:ea typeface="Arial"/>
                <a:cs typeface="Arial"/>
              </a:rPr>
              <a:t>REGULATOR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FFBDB8B-51BE-4F62-A282-947A37741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981700"/>
            <a:ext cx="4714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0" i="0">
                <a:solidFill>
                  <a:srgbClr val="0B3158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B3158"/>
                </a:solidFill>
                <a:latin typeface="Arial"/>
                <a:ea typeface="Arial"/>
                <a:cs typeface="Arial"/>
              </a:rPr>
              <a:t>English, Hindi and Marathi across operational pages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80A06E3-C5B2-497F-957A-4F796E677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1DB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AD1F0EF-5224-48E7-A899-53B911F09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704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1" i="0">
                <a:solidFill>
                  <a:srgbClr val="586A63"/>
                </a:solidFill>
                <a:latin typeface="Arial"/>
                <a:ea typeface="Arial"/>
                <a:cs typeface="Arial"/>
              </a:defRPr>
            </a:pPr>
            <a:r>
              <a:rPr sz="863" b="1" i="0">
                <a:solidFill>
                  <a:srgbClr val="586A63"/>
                </a:solidFill>
                <a:latin typeface="Arial"/>
                <a:ea typeface="Arial"/>
                <a:cs typeface="Arial"/>
              </a:rPr>
              <a:t>SCRAPSETU  |  PS 26229  |  SOFTWARE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AD3E4C-47D4-4BBD-B11E-88840AE9F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572250"/>
            <a:ext cx="2724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63" b="0" i="0">
                <a:solidFill>
                  <a:srgbClr val="165C43"/>
                </a:solidFill>
                <a:latin typeface="Arial"/>
                <a:ea typeface="Arial"/>
                <a:cs typeface="Arial"/>
              </a:defRPr>
            </a:pPr>
            <a:r>
              <a:rPr sz="863" b="0" i="0">
                <a:solidFill>
                  <a:srgbClr val="165C43"/>
                </a:solidFill>
                <a:latin typeface="Arial"/>
                <a:ea typeface="Arial"/>
                <a:cs typeface="Arial"/>
              </a:rPr>
              <a:t>scrapsetu.vercel.app</a:t>
            </a:r>
          </a:p>
        </p:txBody>
      </p:sp>
    </p:spTree>
    <p:extLst>
      <p:ext uri="{BB962C8B-B14F-4D97-AF65-F5344CB8AC3E}">
        <p14:creationId xmlns:p14="http://schemas.microsoft.com/office/powerpoint/2010/main" val="179200518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1403076-BDAB-42CA-8332-5EEDE63F7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67B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18688E-B25A-4CF0-8296-2E2B26C78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1967B3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967B3"/>
                </a:solidFill>
                <a:latin typeface="Arial"/>
                <a:ea typeface="Arial"/>
                <a:cs typeface="Arial"/>
              </a:rPr>
              <a:t>SMART INDIA HACKATHON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1280A1-AC01-4272-BDA6-741F0E1D6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7622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75" b="1" i="0">
                <a:solidFill>
                  <a:srgbClr val="F28C28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28C2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3461D9-F7DE-4AD7-BFD6-75996F8E7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2870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25" b="1" i="0">
                <a:solidFill>
                  <a:srgbClr val="0B3158"/>
                </a:solidFill>
                <a:latin typeface="Arial"/>
                <a:ea typeface="Arial"/>
                <a:cs typeface="Arial"/>
              </a:defRPr>
            </a:pPr>
            <a:r>
              <a:rPr sz="3225" b="1" i="0">
                <a:solidFill>
                  <a:srgbClr val="0B3158"/>
                </a:solidFill>
                <a:latin typeface="Arial"/>
                <a:ea typeface="Arial"/>
                <a:cs typeface="Arial"/>
              </a:rPr>
              <a:t>RESEARCH AND REFERENCES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529FB3-DFBD-4B12-B611-36B842CA1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586A63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86A63"/>
                </a:solidFill>
                <a:latin typeface="Arial"/>
                <a:ea typeface="Arial"/>
                <a:cs typeface="Arial"/>
              </a:rPr>
              <a:t>Regulatory sources, technical documentation and working project links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6A7702-FA9B-4E92-9E17-69E103E3D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3355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 i="0">
                <a:solidFill>
                  <a:srgbClr val="073B32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73B32"/>
                </a:solidFill>
                <a:latin typeface="Arial"/>
                <a:ea typeface="Arial"/>
                <a:cs typeface="Arial"/>
              </a:rPr>
              <a:t>Regulation and programme format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D3801A-60D2-4484-AE7C-40FBC8A9A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9552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F28C2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28C2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004047-D1BB-4E97-9896-190364324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95525"/>
            <a:ext cx="428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 i="0">
                <a:solidFill>
                  <a:srgbClr val="0B3158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B3158"/>
                </a:solidFill>
                <a:latin typeface="Arial"/>
                <a:ea typeface="Arial"/>
                <a:cs typeface="Arial"/>
              </a:rPr>
              <a:t>E-Waste (Management) Rules, 2022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91E662-3984-4BDF-98FB-175F1D834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19375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1967B3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967B3"/>
                </a:solidFill>
                <a:latin typeface="Arial"/>
                <a:ea typeface="Arial"/>
                <a:cs typeface="Arial"/>
                <a:hlinkClick xmlns:r="http://schemas.openxmlformats.org/officeDocument/2006/relationships" r:id="Rcb1ded5f82824ee2"/>
              </a:rPr>
              <a:t>moef.gov.in/uploads/2022/11/E-Waste-Management-Rules-2022.pdf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ED82D1-0AC4-4405-836E-01D468EDC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3372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F28C2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28C2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F05BD2-2FDA-49CF-BB0A-B949F8C54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33725"/>
            <a:ext cx="428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 i="0">
                <a:solidFill>
                  <a:srgbClr val="0B3158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B3158"/>
                </a:solidFill>
                <a:latin typeface="Arial"/>
                <a:ea typeface="Arial"/>
                <a:cs typeface="Arial"/>
              </a:rPr>
              <a:t>CPCB EPR guidance and portal information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B5C878-35FC-4420-B91A-CE63ECD0D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57575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1967B3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967B3"/>
                </a:solidFill>
                <a:latin typeface="Arial"/>
                <a:ea typeface="Arial"/>
                <a:cs typeface="Arial"/>
                <a:hlinkClick xmlns:r="http://schemas.openxmlformats.org/officeDocument/2006/relationships" r:id="Rcdcd273d9e2743f9"/>
              </a:rPr>
              <a:t>cpcb.nic.in/e-waste/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39B227-4AD9-4CC0-8544-FFB3C63E9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7192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F28C2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28C2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1F59A9-91F5-4FF9-96A5-01EB0FE34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71925"/>
            <a:ext cx="428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 i="0">
                <a:solidFill>
                  <a:srgbClr val="0B3158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B3158"/>
                </a:solidFill>
                <a:latin typeface="Arial"/>
                <a:ea typeface="Arial"/>
                <a:cs typeface="Arial"/>
              </a:rPr>
              <a:t>SIH idea presentation template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B841C1-68A5-43BF-8BC5-F5650227A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95775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1967B3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967B3"/>
                </a:solidFill>
                <a:latin typeface="Arial"/>
                <a:ea typeface="Arial"/>
                <a:cs typeface="Arial"/>
                <a:hlinkClick xmlns:r="http://schemas.openxmlformats.org/officeDocument/2006/relationships" r:id="R2c4f301e5f5d4854"/>
              </a:rPr>
              <a:t>sih.gov.in/letters/Idea%20ppt.pptx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9CFBFB-D665-42AA-B38A-D57ACE301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1012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F28C2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28C2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B96C70-DBB0-4010-8D0D-44A47478B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10125"/>
            <a:ext cx="428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 i="0">
                <a:solidFill>
                  <a:srgbClr val="0B3158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B3158"/>
                </a:solidFill>
                <a:latin typeface="Arial"/>
                <a:ea typeface="Arial"/>
                <a:cs typeface="Arial"/>
              </a:rPr>
              <a:t>SIH college and submission guidance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A920CC-B8C9-4087-B08F-A82FA65D5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133975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1967B3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967B3"/>
                </a:solidFill>
                <a:latin typeface="Arial"/>
                <a:ea typeface="Arial"/>
                <a:cs typeface="Arial"/>
                <a:hlinkClick xmlns:r="http://schemas.openxmlformats.org/officeDocument/2006/relationships" r:id="R1e3441317b044359"/>
              </a:rPr>
              <a:t>sih.gov.in/letters/Guidelines-College-SPOC.pdf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9092D2-944F-40D6-A882-29184E9BF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743075"/>
            <a:ext cx="0" cy="369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D9E1DB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78B900-AF6F-4AD6-A98A-34F4FA856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335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 i="0">
                <a:solidFill>
                  <a:srgbClr val="073B32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73B32"/>
                </a:solidFill>
                <a:latin typeface="Arial"/>
                <a:ea typeface="Arial"/>
                <a:cs typeface="Arial"/>
              </a:rPr>
              <a:t>Technology and project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34184B-4AC4-40C6-8D6D-723B6041F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9552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F28C2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28C2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6EB852-1407-4D7D-9BA6-0B558A70B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295525"/>
            <a:ext cx="432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0B315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B3158"/>
                </a:solidFill>
                <a:latin typeface="Arial"/>
                <a:ea typeface="Arial"/>
                <a:cs typeface="Arial"/>
              </a:rPr>
              <a:t>Google Gemini API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D52F88-2511-4EC4-A84A-CDC41952C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581275"/>
            <a:ext cx="432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 i="0">
                <a:solidFill>
                  <a:srgbClr val="1967B3"/>
                </a:solidFill>
                <a:latin typeface="Arial"/>
                <a:ea typeface="Arial"/>
                <a:cs typeface="Arial"/>
              </a:defRPr>
            </a:pPr>
            <a:r>
              <a:rPr sz="1013" b="0" i="0">
                <a:solidFill>
                  <a:srgbClr val="1967B3"/>
                </a:solidFill>
                <a:latin typeface="Arial"/>
                <a:ea typeface="Arial"/>
                <a:cs typeface="Arial"/>
                <a:hlinkClick xmlns:r="http://schemas.openxmlformats.org/officeDocument/2006/relationships" r:id="R95b99ae2ed7f48da"/>
              </a:rPr>
              <a:t>ai.google.dev/gemini-api/docs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7E9606-C65A-426D-9277-D8655CDBC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8132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F28C2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28C2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20ECC9-004A-406D-82AB-7D6FA3AF2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981325"/>
            <a:ext cx="432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0B315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B3158"/>
                </a:solidFill>
                <a:latin typeface="Arial"/>
                <a:ea typeface="Arial"/>
                <a:cs typeface="Arial"/>
              </a:rPr>
              <a:t>Next.js App Router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759C04C-FAE6-4CB3-8F71-C2C9651CF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267075"/>
            <a:ext cx="432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 i="0">
                <a:solidFill>
                  <a:srgbClr val="1967B3"/>
                </a:solidFill>
                <a:latin typeface="Arial"/>
                <a:ea typeface="Arial"/>
                <a:cs typeface="Arial"/>
              </a:defRPr>
            </a:pPr>
            <a:r>
              <a:rPr sz="1013" b="0" i="0">
                <a:solidFill>
                  <a:srgbClr val="1967B3"/>
                </a:solidFill>
                <a:latin typeface="Arial"/>
                <a:ea typeface="Arial"/>
                <a:cs typeface="Arial"/>
                <a:hlinkClick xmlns:r="http://schemas.openxmlformats.org/officeDocument/2006/relationships" r:id="Rc9f7624232a44879"/>
              </a:rPr>
              <a:t>nextjs.org/docs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F260164-73F1-4108-AF90-39FB29BF5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6712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F28C2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28C2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00D1CAB-0837-4A3B-B3D0-0C78BF6F8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667125"/>
            <a:ext cx="432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0B315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B3158"/>
                </a:solidFill>
                <a:latin typeface="Arial"/>
                <a:ea typeface="Arial"/>
                <a:cs typeface="Arial"/>
              </a:rPr>
              <a:t>Supabase platform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9B04C56-77CD-4F19-A064-0C2D1C1EB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952875"/>
            <a:ext cx="432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 i="0">
                <a:solidFill>
                  <a:srgbClr val="1967B3"/>
                </a:solidFill>
                <a:latin typeface="Arial"/>
                <a:ea typeface="Arial"/>
                <a:cs typeface="Arial"/>
              </a:defRPr>
            </a:pPr>
            <a:r>
              <a:rPr sz="1013" b="0" i="0">
                <a:solidFill>
                  <a:srgbClr val="1967B3"/>
                </a:solidFill>
                <a:latin typeface="Arial"/>
                <a:ea typeface="Arial"/>
                <a:cs typeface="Arial"/>
                <a:hlinkClick xmlns:r="http://schemas.openxmlformats.org/officeDocument/2006/relationships" r:id="Rc23db5c8e7b848df"/>
              </a:rPr>
              <a:t>supabase.com/docs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EFAB0CD-9495-4104-8CF4-D0578155D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5292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F28C2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28C2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D012FA5-A485-451D-81BE-BC3829E71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352925"/>
            <a:ext cx="432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0B315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B3158"/>
                </a:solidFill>
                <a:latin typeface="Arial"/>
                <a:ea typeface="Arial"/>
                <a:cs typeface="Arial"/>
              </a:rPr>
              <a:t>ScrapSetu source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0EEBF98-295D-4053-89E9-EF776A916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638675"/>
            <a:ext cx="432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 i="0">
                <a:solidFill>
                  <a:srgbClr val="1967B3"/>
                </a:solidFill>
                <a:latin typeface="Arial"/>
                <a:ea typeface="Arial"/>
                <a:cs typeface="Arial"/>
              </a:defRPr>
            </a:pPr>
            <a:r>
              <a:rPr sz="1013" b="0" i="0">
                <a:solidFill>
                  <a:srgbClr val="1967B3"/>
                </a:solidFill>
                <a:latin typeface="Arial"/>
                <a:ea typeface="Arial"/>
                <a:cs typeface="Arial"/>
                <a:hlinkClick xmlns:r="http://schemas.openxmlformats.org/officeDocument/2006/relationships" r:id="Rfe2d5aae6d524c59"/>
              </a:rPr>
              <a:t>github.com/nikhillakra2007-tech/scrapsetu/tree/frontend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6DECAF2-799B-44B3-9688-EBF88F34A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03872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F28C2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28C2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CEFD0D1-8FFD-4A22-9F51-CE5DB92AD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5038725"/>
            <a:ext cx="432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0B315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B3158"/>
                </a:solidFill>
                <a:latin typeface="Arial"/>
                <a:ea typeface="Arial"/>
                <a:cs typeface="Arial"/>
              </a:rPr>
              <a:t>ScrapSetu live prototype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FDCDC02-A8DF-48D2-AB90-17FB2E52F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5324475"/>
            <a:ext cx="432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 i="0">
                <a:solidFill>
                  <a:srgbClr val="1967B3"/>
                </a:solidFill>
                <a:latin typeface="Arial"/>
                <a:ea typeface="Arial"/>
                <a:cs typeface="Arial"/>
              </a:defRPr>
            </a:pPr>
            <a:r>
              <a:rPr sz="1013" b="0" i="0">
                <a:solidFill>
                  <a:srgbClr val="1967B3"/>
                </a:solidFill>
                <a:latin typeface="Arial"/>
                <a:ea typeface="Arial"/>
                <a:cs typeface="Arial"/>
                <a:hlinkClick xmlns:r="http://schemas.openxmlformats.org/officeDocument/2006/relationships" r:id="R3c4f28ed00b54e68"/>
              </a:rPr>
              <a:t>scrapsetu.vercel.app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B6E59BB-3EFE-4581-B702-AAC2BF391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67400"/>
            <a:ext cx="106108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9525">
            <a:solidFill>
              <a:srgbClr val="C8DDF1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0F15DE8-415B-4FC6-8CD8-5E3B4CB40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6000750"/>
            <a:ext cx="101346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63" b="0" i="0">
                <a:solidFill>
                  <a:srgbClr val="0B3158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0B3158"/>
                </a:solidFill>
                <a:latin typeface="Arial"/>
                <a:ea typeface="Arial"/>
                <a:cs typeface="Arial"/>
              </a:rPr>
              <a:t>SIH format followed: six slides including title, concise points and diagrams, with the final submission exported as PDF on the portal.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A29107C-A406-44E7-8852-6C3B5E8AB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1DB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B87D270-AB0A-471A-836C-8413DA614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704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1" i="0">
                <a:solidFill>
                  <a:srgbClr val="586A63"/>
                </a:solidFill>
                <a:latin typeface="Arial"/>
                <a:ea typeface="Arial"/>
                <a:cs typeface="Arial"/>
              </a:defRPr>
            </a:pPr>
            <a:r>
              <a:rPr sz="863" b="1" i="0">
                <a:solidFill>
                  <a:srgbClr val="586A63"/>
                </a:solidFill>
                <a:latin typeface="Arial"/>
                <a:ea typeface="Arial"/>
                <a:cs typeface="Arial"/>
              </a:rPr>
              <a:t>SCRAPSETU  |  RESEARCH NOTES INCLUDED IN THE DECK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F34EECA-792C-4DDF-86BD-CDFEDC62A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572250"/>
            <a:ext cx="2724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63" b="0" i="0">
                <a:solidFill>
                  <a:srgbClr val="165C43"/>
                </a:solidFill>
                <a:latin typeface="Arial"/>
                <a:ea typeface="Arial"/>
                <a:cs typeface="Arial"/>
              </a:defRPr>
            </a:pPr>
            <a:r>
              <a:rPr sz="863" b="0" i="0">
                <a:solidFill>
                  <a:srgbClr val="165C43"/>
                </a:solidFill>
                <a:latin typeface="Arial"/>
                <a:ea typeface="Arial"/>
                <a:cs typeface="Arial"/>
              </a:rPr>
              <a:t>scrapsetu.vercel.app</a:t>
            </a:r>
          </a:p>
        </p:txBody>
      </p:sp>
    </p:spTree>
    <p:extLst>
      <p:ext uri="{BB962C8B-B14F-4D97-AF65-F5344CB8AC3E}">
        <p14:creationId xmlns:p14="http://schemas.microsoft.com/office/powerpoint/2010/main" val="7216479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2026-09-06T09:07:08.0720000Z</dcterms:created>
  <dcterms:modified xsi:type="dcterms:W3CDTF">2026-09-06T09:07:08.0720000Z</dcterms:modified>
</coreProperties>
</file>